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272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411480"/>
            <a:ext cx="11384280" cy="6035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2103120"/>
            <a:ext cx="5486400" cy="4572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800" b="1">
                <a:solidFill>
                  <a:srgbClr val="182235"/>
                </a:solidFill>
                <a:latin typeface="Malgun Gothic"/>
              </a:rPr>
              <a:t>Stream Watcher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6858000" cy="5486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3000" b="1">
                <a:solidFill>
                  <a:srgbClr val="182235"/>
                </a:solidFill>
                <a:latin typeface="Malgun Gothic"/>
              </a:rPr>
              <a:t>태블릿 사용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7498079" cy="82296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700" b="0">
                <a:solidFill>
                  <a:srgbClr val="647184"/>
                </a:solidFill>
                <a:latin typeface="Malgun Gothic"/>
              </a:rPr>
              <a:t>PC 프로그램 Stream Capture를 모바일로 모니터링하고,
시나리오를 리모트 컨트롤할 수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36576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200" b="1">
                <a:solidFill>
                  <a:srgbClr val="182235"/>
                </a:solidFill>
                <a:latin typeface="Malgun Gothic"/>
              </a:rPr>
              <a:t>1. 준비하기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868679"/>
            <a:ext cx="3749666" cy="253688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2967800" cy="2154436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 marL="228600">
              <a:spcAft>
                <a:spcPts val="600"/>
              </a:spcAft>
              <a:defRPr sz="1300">
                <a:solidFill>
                  <a:srgbClr val="182235"/>
                </a:solidFill>
                <a:latin typeface="Malgun Gothic"/>
              </a:defRPr>
            </a:pPr>
            <a:r>
              <a:rPr dirty="0" err="1"/>
              <a:t>PC에서</a:t>
            </a:r>
            <a:r>
              <a:rPr dirty="0"/>
              <a:t> Stream Capture </a:t>
            </a:r>
            <a:r>
              <a:rPr dirty="0" err="1"/>
              <a:t>실행</a:t>
            </a:r>
            <a:endParaRPr lang="en-US" dirty="0"/>
          </a:p>
          <a:p>
            <a:pPr marL="228600">
              <a:spcAft>
                <a:spcPts val="600"/>
              </a:spcAft>
              <a:defRPr sz="1300">
                <a:solidFill>
                  <a:srgbClr val="182235"/>
                </a:solidFill>
                <a:latin typeface="Malgun Gothic"/>
              </a:defRPr>
            </a:pPr>
            <a:endParaRPr dirty="0"/>
          </a:p>
          <a:p>
            <a:pPr marL="228600">
              <a:spcAft>
                <a:spcPts val="600"/>
              </a:spcAft>
              <a:defRPr sz="1300">
                <a:solidFill>
                  <a:srgbClr val="182235"/>
                </a:solidFill>
                <a:latin typeface="Malgun Gothic"/>
              </a:defRPr>
            </a:pPr>
            <a:r>
              <a:rPr dirty="0" err="1"/>
              <a:t>태블릿과</a:t>
            </a:r>
            <a:r>
              <a:rPr dirty="0"/>
              <a:t> </a:t>
            </a:r>
            <a:r>
              <a:rPr dirty="0" err="1"/>
              <a:t>PC를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Wi-</a:t>
            </a:r>
            <a:r>
              <a:rPr dirty="0" err="1"/>
              <a:t>Fi에</a:t>
            </a:r>
            <a:r>
              <a:rPr dirty="0"/>
              <a:t> </a:t>
            </a:r>
            <a:r>
              <a:rPr dirty="0" err="1"/>
              <a:t>연결</a:t>
            </a:r>
            <a:endParaRPr lang="en-US" dirty="0"/>
          </a:p>
          <a:p>
            <a:pPr marL="228600">
              <a:spcAft>
                <a:spcPts val="600"/>
              </a:spcAft>
              <a:defRPr sz="1300">
                <a:solidFill>
                  <a:srgbClr val="182235"/>
                </a:solidFill>
                <a:latin typeface="Malgun Gothic"/>
              </a:defRPr>
            </a:pPr>
            <a:endParaRPr dirty="0"/>
          </a:p>
          <a:p>
            <a:pPr marL="228600">
              <a:spcAft>
                <a:spcPts val="600"/>
              </a:spcAft>
              <a:defRPr sz="1300">
                <a:solidFill>
                  <a:srgbClr val="182235"/>
                </a:solidFill>
                <a:latin typeface="Malgun Gothic"/>
              </a:defRPr>
            </a:pPr>
            <a:r>
              <a:rPr dirty="0"/>
              <a:t>PC </a:t>
            </a:r>
            <a:r>
              <a:rPr lang="ko-KR" altLang="en-US" dirty="0"/>
              <a:t>프로그램 설정 탭</a:t>
            </a:r>
            <a:r>
              <a:rPr dirty="0" err="1"/>
              <a:t>에서</a:t>
            </a:r>
            <a:r>
              <a:rPr dirty="0"/>
              <a:t> PIN </a:t>
            </a:r>
            <a:r>
              <a:rPr dirty="0" err="1"/>
              <a:t>생성</a:t>
            </a:r>
            <a:endParaRPr lang="en-US" dirty="0"/>
          </a:p>
          <a:p>
            <a:pPr marL="228600">
              <a:spcAft>
                <a:spcPts val="600"/>
              </a:spcAft>
              <a:defRPr sz="1300">
                <a:solidFill>
                  <a:srgbClr val="182235"/>
                </a:solidFill>
                <a:latin typeface="Malgun Gothic"/>
              </a:defRPr>
            </a:pPr>
            <a:endParaRPr dirty="0"/>
          </a:p>
          <a:p>
            <a:pPr marL="228600">
              <a:spcAft>
                <a:spcPts val="600"/>
              </a:spcAft>
              <a:defRPr sz="1300">
                <a:solidFill>
                  <a:srgbClr val="182235"/>
                </a:solidFill>
                <a:latin typeface="Malgun Gothic"/>
              </a:defRPr>
            </a:pPr>
            <a:r>
              <a:rPr dirty="0" err="1"/>
              <a:t>태블릿에서</a:t>
            </a:r>
            <a:r>
              <a:rPr dirty="0"/>
              <a:t> STREAM Watcher </a:t>
            </a:r>
            <a:r>
              <a:rPr dirty="0" err="1"/>
              <a:t>실행</a:t>
            </a:r>
            <a:br>
              <a:rPr lang="en-US" dirty="0"/>
            </a:br>
            <a:r>
              <a:rPr lang="en-US" dirty="0"/>
              <a:t>PIN</a:t>
            </a:r>
            <a:r>
              <a:rPr lang="ko-KR" altLang="en-US" dirty="0"/>
              <a:t>입력 </a:t>
            </a:r>
            <a:r>
              <a:rPr lang="en-US" altLang="ko-KR" dirty="0"/>
              <a:t>-&gt; </a:t>
            </a:r>
            <a:r>
              <a:rPr lang="ko-KR" altLang="en-US" dirty="0"/>
              <a:t>연결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663440" y="320040"/>
            <a:ext cx="4572000" cy="36576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200" b="1">
                <a:solidFill>
                  <a:srgbClr val="182235"/>
                </a:solidFill>
                <a:latin typeface="Malgun Gothic"/>
              </a:rPr>
              <a:t>2. PIN으로 연결하기</a:t>
            </a:r>
          </a:p>
        </p:txBody>
      </p:sp>
      <p:pic>
        <p:nvPicPr>
          <p:cNvPr id="6" name="Picture 5" descr="tablet_pairing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11592"/>
            <a:ext cx="6995160" cy="4371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3094673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 PIN 입력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61020" y="3756184"/>
            <a:ext cx="777239" cy="45720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938259" y="421338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30767" y="4332773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</a:rPr>
              <a:t>2 </a:t>
            </a:r>
            <a:r>
              <a:rPr sz="1000" b="1" dirty="0" err="1">
                <a:solidFill>
                  <a:srgbClr val="FFFFFF"/>
                </a:solidFill>
                <a:latin typeface="Malgun Gothic"/>
              </a:rPr>
              <a:t>연결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6263640"/>
            <a:ext cx="594360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200" b="0">
                <a:solidFill>
                  <a:srgbClr val="647184"/>
                </a:solidFill>
                <a:latin typeface="Malgun Gothic"/>
              </a:rPr>
              <a:t>PIN 입력 후 연결 버튼을 누릅니다.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0" cy="36576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200" b="1">
                <a:solidFill>
                  <a:srgbClr val="182235"/>
                </a:solidFill>
                <a:latin typeface="Malgun Gothic"/>
              </a:rPr>
              <a:t>3. 대시보드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64008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200" b="0">
                <a:solidFill>
                  <a:srgbClr val="647184"/>
                </a:solidFill>
                <a:latin typeface="Malgun Gothic"/>
              </a:rPr>
              <a:t>상단 버튼과 방송 상태를 한 화면에서 확인합니다.</a:t>
            </a:r>
          </a:p>
        </p:txBody>
      </p:sp>
      <p:pic>
        <p:nvPicPr>
          <p:cNvPr id="4" name="Picture 3" descr="table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1" y="1143000"/>
            <a:ext cx="6803136" cy="4251960"/>
          </a:xfrm>
          <a:prstGeom prst="rect">
            <a:avLst/>
          </a:prstGeom>
        </p:spPr>
      </p:pic>
      <p:cxnSp>
        <p:nvCxnSpPr>
          <p:cNvPr id="6" name="Connector 5"/>
          <p:cNvCxnSpPr>
            <a:cxnSpLocks/>
            <a:stCxn id="5" idx="3"/>
            <a:endCxn id="7" idx="1"/>
          </p:cNvCxnSpPr>
          <p:nvPr/>
        </p:nvCxnSpPr>
        <p:spPr>
          <a:xfrm>
            <a:off x="6379757" y="510905"/>
            <a:ext cx="2220336" cy="876764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584024" y="13716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>
            <a:cxnSpLocks/>
            <a:stCxn id="8" idx="2"/>
          </p:cNvCxnSpPr>
          <p:nvPr/>
        </p:nvCxnSpPr>
        <p:spPr>
          <a:xfrm>
            <a:off x="8594232" y="878951"/>
            <a:ext cx="435467" cy="461459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993562" y="128554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41805" y="749808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 새로고침</a:t>
            </a:r>
          </a:p>
        </p:txBody>
      </p:sp>
      <p:cxnSp>
        <p:nvCxnSpPr>
          <p:cNvPr id="12" name="Connector 11"/>
          <p:cNvCxnSpPr>
            <a:cxnSpLocks/>
            <a:endCxn id="11" idx="1"/>
          </p:cNvCxnSpPr>
          <p:nvPr/>
        </p:nvCxnSpPr>
        <p:spPr>
          <a:xfrm flipV="1">
            <a:off x="9395460" y="905256"/>
            <a:ext cx="346345" cy="410478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333707" y="128830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4340" y="1219659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</a:rPr>
              <a:t>4 </a:t>
            </a:r>
            <a:r>
              <a:rPr sz="1000" b="1" dirty="0" err="1">
                <a:solidFill>
                  <a:srgbClr val="FFFFFF"/>
                </a:solidFill>
                <a:latin typeface="Malgun Gothic"/>
              </a:rPr>
              <a:t>송출</a:t>
            </a:r>
            <a:r>
              <a:rPr sz="1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Malgun Gothic"/>
              </a:rPr>
              <a:t>상태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cxnSp>
        <p:nvCxnSpPr>
          <p:cNvPr id="15" name="Connector 14"/>
          <p:cNvCxnSpPr>
            <a:cxnSpLocks/>
            <a:stCxn id="16" idx="2"/>
            <a:endCxn id="14" idx="3"/>
          </p:cNvCxnSpPr>
          <p:nvPr/>
        </p:nvCxnSpPr>
        <p:spPr>
          <a:xfrm flipH="1" flipV="1">
            <a:off x="1668780" y="1375107"/>
            <a:ext cx="1050181" cy="29373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18961" y="1613979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2363724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5 상태 카드</a:t>
            </a:r>
          </a:p>
        </p:txBody>
      </p:sp>
      <p:cxnSp>
        <p:nvCxnSpPr>
          <p:cNvPr id="18" name="Connector 17"/>
          <p:cNvCxnSpPr>
            <a:cxnSpLocks/>
            <a:stCxn id="19" idx="2"/>
          </p:cNvCxnSpPr>
          <p:nvPr/>
        </p:nvCxnSpPr>
        <p:spPr>
          <a:xfrm flipH="1">
            <a:off x="1737360" y="2468880"/>
            <a:ext cx="1091329" cy="54864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828689" y="241401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5903" y="5073882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6 시나리오</a:t>
            </a:r>
          </a:p>
        </p:txBody>
      </p:sp>
      <p:cxnSp>
        <p:nvCxnSpPr>
          <p:cNvPr id="21" name="Connector 20"/>
          <p:cNvCxnSpPr>
            <a:cxnSpLocks/>
            <a:endCxn id="22" idx="3"/>
          </p:cNvCxnSpPr>
          <p:nvPr/>
        </p:nvCxnSpPr>
        <p:spPr>
          <a:xfrm flipV="1">
            <a:off x="1503123" y="3970715"/>
            <a:ext cx="1226189" cy="1164956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713243" y="38770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BCCE52D-54FC-68E6-DAE1-372E5FA4A158}"/>
              </a:ext>
            </a:extLst>
          </p:cNvPr>
          <p:cNvGrpSpPr/>
          <p:nvPr/>
        </p:nvGrpSpPr>
        <p:grpSpPr>
          <a:xfrm>
            <a:off x="5191037" y="717804"/>
            <a:ext cx="1143000" cy="411480"/>
            <a:chOff x="5143500" y="5554980"/>
            <a:chExt cx="1143000" cy="411480"/>
          </a:xfrm>
        </p:grpSpPr>
        <p:sp>
          <p:nvSpPr>
            <p:cNvPr id="23" name="Rounded Rectangle 22"/>
            <p:cNvSpPr/>
            <p:nvPr/>
          </p:nvSpPr>
          <p:spPr>
            <a:xfrm>
              <a:off x="5143500" y="5554980"/>
              <a:ext cx="1143000" cy="4114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34940" y="5674541"/>
              <a:ext cx="960120" cy="182880"/>
            </a:xfrm>
            <a:prstGeom prst="rect">
              <a:avLst/>
            </a:prstGeom>
            <a:noFill/>
          </p:spPr>
          <p:txBody>
            <a:bodyPr wrap="none" lIns="18288" tIns="9144" rIns="18288" bIns="9144">
              <a:spAutoFit/>
            </a:bodyPr>
            <a:lstStyle/>
            <a:p>
              <a:pPr algn="ctr"/>
              <a:r>
                <a:rPr sz="900" b="1" dirty="0" err="1">
                  <a:solidFill>
                    <a:srgbClr val="182235"/>
                  </a:solidFill>
                  <a:latin typeface="Malgun Gothic"/>
                </a:rPr>
                <a:t>모드</a:t>
              </a:r>
              <a:r>
                <a:rPr sz="900" b="1" dirty="0">
                  <a:solidFill>
                    <a:srgbClr val="182235"/>
                  </a:solidFill>
                  <a:latin typeface="Malgun Gothic"/>
                </a:rPr>
                <a:t> </a:t>
              </a:r>
              <a:r>
                <a:rPr sz="900" b="1" dirty="0" err="1">
                  <a:solidFill>
                    <a:srgbClr val="182235"/>
                  </a:solidFill>
                  <a:latin typeface="Malgun Gothic"/>
                </a:rPr>
                <a:t>선택</a:t>
              </a:r>
              <a:endParaRPr sz="900" b="1" dirty="0">
                <a:solidFill>
                  <a:srgbClr val="182235"/>
                </a:solidFill>
                <a:latin typeface="Malgun Gothic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DFC50FA-AC1E-47CF-3A3C-80B49B24B063}"/>
              </a:ext>
            </a:extLst>
          </p:cNvPr>
          <p:cNvGrpSpPr/>
          <p:nvPr/>
        </p:nvGrpSpPr>
        <p:grpSpPr>
          <a:xfrm>
            <a:off x="8022732" y="114300"/>
            <a:ext cx="1143000" cy="411480"/>
            <a:chOff x="6446519" y="5536692"/>
            <a:chExt cx="1143000" cy="411480"/>
          </a:xfrm>
        </p:grpSpPr>
        <p:sp>
          <p:nvSpPr>
            <p:cNvPr id="25" name="Rounded Rectangle 24"/>
            <p:cNvSpPr/>
            <p:nvPr/>
          </p:nvSpPr>
          <p:spPr>
            <a:xfrm>
              <a:off x="6446519" y="5536692"/>
              <a:ext cx="1143000" cy="4114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37959" y="5650992"/>
              <a:ext cx="960120" cy="182880"/>
            </a:xfrm>
            <a:prstGeom prst="rect">
              <a:avLst/>
            </a:prstGeom>
            <a:noFill/>
          </p:spPr>
          <p:txBody>
            <a:bodyPr wrap="none" lIns="18288" tIns="9144" rIns="18288" bIns="9144">
              <a:spAutoFit/>
            </a:bodyPr>
            <a:lstStyle/>
            <a:p>
              <a:pPr algn="ctr"/>
              <a:r>
                <a:rPr sz="900" b="1">
                  <a:solidFill>
                    <a:srgbClr val="182235"/>
                  </a:solidFill>
                  <a:latin typeface="Malgun Gothic"/>
                </a:rPr>
                <a:t>테마 전환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332C4A6-E95A-7532-C11B-78E2DDD594D3}"/>
              </a:ext>
            </a:extLst>
          </p:cNvPr>
          <p:cNvGrpSpPr/>
          <p:nvPr/>
        </p:nvGrpSpPr>
        <p:grpSpPr>
          <a:xfrm>
            <a:off x="9851532" y="1044921"/>
            <a:ext cx="1143000" cy="411480"/>
            <a:chOff x="7818120" y="5559552"/>
            <a:chExt cx="1143000" cy="411480"/>
          </a:xfrm>
        </p:grpSpPr>
        <p:sp>
          <p:nvSpPr>
            <p:cNvPr id="27" name="Rounded Rectangle 26"/>
            <p:cNvSpPr/>
            <p:nvPr/>
          </p:nvSpPr>
          <p:spPr>
            <a:xfrm>
              <a:off x="7818120" y="5559552"/>
              <a:ext cx="1143000" cy="41148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909560" y="5650992"/>
              <a:ext cx="960120" cy="182880"/>
            </a:xfrm>
            <a:prstGeom prst="rect">
              <a:avLst/>
            </a:prstGeom>
            <a:noFill/>
          </p:spPr>
          <p:txBody>
            <a:bodyPr wrap="none" lIns="18288" tIns="9144" rIns="18288" bIns="9144">
              <a:spAutoFit/>
            </a:bodyPr>
            <a:lstStyle/>
            <a:p>
              <a:pPr algn="ctr"/>
              <a:r>
                <a:rPr sz="900" b="1" dirty="0" err="1">
                  <a:solidFill>
                    <a:srgbClr val="182235"/>
                  </a:solidFill>
                  <a:latin typeface="Malgun Gothic"/>
                </a:rPr>
                <a:t>상태</a:t>
              </a:r>
              <a:r>
                <a:rPr sz="900" b="1" dirty="0">
                  <a:solidFill>
                    <a:srgbClr val="182235"/>
                  </a:solidFill>
                  <a:latin typeface="Malgun Gothic"/>
                </a:rPr>
                <a:t> </a:t>
              </a:r>
              <a:r>
                <a:rPr sz="900" b="1" dirty="0" err="1">
                  <a:solidFill>
                    <a:srgbClr val="182235"/>
                  </a:solidFill>
                  <a:latin typeface="Malgun Gothic"/>
                </a:rPr>
                <a:t>갱신</a:t>
              </a:r>
              <a:endParaRPr sz="900" b="1" dirty="0">
                <a:solidFill>
                  <a:srgbClr val="182235"/>
                </a:solidFill>
                <a:latin typeface="Malgun Gothic"/>
              </a:endParaRP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466281" y="1583227"/>
            <a:ext cx="1143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1500" y="1693894"/>
            <a:ext cx="960120" cy="18288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pPr algn="ctr"/>
            <a:r>
              <a:rPr sz="900" b="1" dirty="0" err="1">
                <a:solidFill>
                  <a:srgbClr val="182235"/>
                </a:solidFill>
                <a:latin typeface="Malgun Gothic"/>
              </a:rPr>
              <a:t>송출</a:t>
            </a:r>
            <a:r>
              <a:rPr sz="900" b="1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900" b="1" dirty="0" err="1">
                <a:solidFill>
                  <a:srgbClr val="182235"/>
                </a:solidFill>
                <a:latin typeface="Malgun Gothic"/>
              </a:rPr>
              <a:t>요약</a:t>
            </a:r>
            <a:endParaRPr sz="900" b="1" dirty="0">
              <a:solidFill>
                <a:srgbClr val="182235"/>
              </a:solidFill>
              <a:latin typeface="Malgun Gothi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145317" y="355457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</a:rPr>
              <a:t>1 </a:t>
            </a:r>
            <a:r>
              <a:rPr sz="1000" b="1" dirty="0" err="1">
                <a:solidFill>
                  <a:srgbClr val="FFFFFF"/>
                </a:solidFill>
                <a:latin typeface="Malgun Gothic"/>
              </a:rPr>
              <a:t>노멀</a:t>
            </a:r>
            <a:r>
              <a:rPr sz="1000" b="1" dirty="0">
                <a:solidFill>
                  <a:srgbClr val="FFFFFF"/>
                </a:solidFill>
                <a:latin typeface="Malgun Gothic"/>
              </a:rPr>
              <a:t> / </a:t>
            </a:r>
            <a:r>
              <a:rPr sz="1000" b="1" dirty="0" err="1">
                <a:solidFill>
                  <a:srgbClr val="FFFFFF"/>
                </a:solidFill>
                <a:latin typeface="Malgun Gothic"/>
              </a:rPr>
              <a:t>운영</a:t>
            </a:r>
            <a:r>
              <a:rPr lang="en-US" sz="10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1000" b="1" dirty="0">
                <a:solidFill>
                  <a:srgbClr val="FFFFFF"/>
                </a:solidFill>
                <a:latin typeface="Malgun Gothic"/>
              </a:rPr>
              <a:t>모드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77012" y="568055"/>
            <a:ext cx="12344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algun Gothic"/>
              </a:rPr>
              <a:t>2 </a:t>
            </a:r>
            <a:r>
              <a:rPr sz="1000" b="1" dirty="0" err="1">
                <a:solidFill>
                  <a:srgbClr val="FFFFFF"/>
                </a:solidFill>
                <a:latin typeface="Malgun Gothic"/>
              </a:rPr>
              <a:t>다크</a:t>
            </a:r>
            <a:r>
              <a:rPr sz="1000" b="1" dirty="0">
                <a:solidFill>
                  <a:srgbClr val="FFFFFF"/>
                </a:solidFill>
                <a:latin typeface="Malgun Gothic"/>
              </a:rPr>
              <a:t> / </a:t>
            </a:r>
            <a:r>
              <a:rPr sz="1000" b="1" dirty="0" err="1">
                <a:solidFill>
                  <a:srgbClr val="FFFFFF"/>
                </a:solidFill>
                <a:latin typeface="Malgun Gothic"/>
              </a:rPr>
              <a:t>라이트</a:t>
            </a:r>
            <a:endParaRPr sz="1000" b="1" dirty="0">
              <a:solidFill>
                <a:srgbClr val="FFFFFF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486400" cy="36576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200" b="1">
                <a:solidFill>
                  <a:srgbClr val="182235"/>
                </a:solidFill>
                <a:latin typeface="Malgun Gothic"/>
              </a:rPr>
              <a:t>4. 일반 모드와 운영 모드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82880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Malgun Gothic"/>
              </a:rPr>
              <a:t>노멀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810402" cy="480131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500" b="0" dirty="0" err="1">
                <a:solidFill>
                  <a:srgbClr val="182235"/>
                </a:solidFill>
                <a:latin typeface="Malgun Gothic"/>
              </a:rPr>
              <a:t>상태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확인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전용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모드입니다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.
</a:t>
            </a:r>
            <a:r>
              <a:rPr lang="ko-KR" altLang="en-US" sz="1500" b="0" dirty="0">
                <a:solidFill>
                  <a:srgbClr val="182235"/>
                </a:solidFill>
                <a:latin typeface="Malgun Gothic"/>
              </a:rPr>
              <a:t>해당 모드에서는 </a:t>
            </a:r>
            <a:r>
              <a:rPr lang="ko-KR" altLang="en-US" sz="1500" b="0" dirty="0" err="1">
                <a:solidFill>
                  <a:srgbClr val="182235"/>
                </a:solidFill>
                <a:latin typeface="Malgun Gothic"/>
              </a:rPr>
              <a:t>알림기능만</a:t>
            </a:r>
            <a:r>
              <a:rPr lang="ko-KR" altLang="en-US" sz="1500" b="0" dirty="0">
                <a:solidFill>
                  <a:srgbClr val="182235"/>
                </a:solidFill>
                <a:latin typeface="Malgun Gothic"/>
              </a:rPr>
              <a:t> 활성화 됩니다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0584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34440"/>
            <a:ext cx="182880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000" b="1">
                <a:solidFill>
                  <a:srgbClr val="2563EB"/>
                </a:solidFill>
                <a:latin typeface="Malgun Gothic"/>
              </a:rPr>
              <a:t>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389120" cy="7315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500" b="0" dirty="0" err="1">
                <a:solidFill>
                  <a:srgbClr val="182235"/>
                </a:solidFill>
                <a:latin typeface="Malgun Gothic"/>
              </a:rPr>
              <a:t>방송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진행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중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태블릿에서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
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시나리오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단계를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직접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변경할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 수 </a:t>
            </a:r>
            <a:r>
              <a:rPr sz="1500" b="0" dirty="0" err="1">
                <a:solidFill>
                  <a:srgbClr val="182235"/>
                </a:solidFill>
                <a:latin typeface="Malgun Gothic"/>
              </a:rPr>
              <a:t>있습니다</a:t>
            </a:r>
            <a:r>
              <a:rPr sz="1500" b="0" dirty="0">
                <a:solidFill>
                  <a:srgbClr val="182235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900" b="1">
                <a:solidFill>
                  <a:srgbClr val="182235"/>
                </a:solidFill>
                <a:latin typeface="Malgun Gothic"/>
              </a:rPr>
              <a:t>시나리오 단계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4937760" cy="128016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pPr marL="228600">
              <a:spcAft>
                <a:spcPts val="600"/>
              </a:spcAft>
              <a:defRPr sz="1500">
                <a:solidFill>
                  <a:srgbClr val="182235"/>
                </a:solidFill>
                <a:latin typeface="Malgun Gothic"/>
              </a:defRPr>
            </a:pPr>
            <a:r>
              <a:t>상단에서 운영 모드 선택</a:t>
            </a:r>
          </a:p>
          <a:p>
            <a:pPr marL="228600">
              <a:spcAft>
                <a:spcPts val="600"/>
              </a:spcAft>
              <a:defRPr sz="1500">
                <a:solidFill>
                  <a:srgbClr val="182235"/>
                </a:solidFill>
                <a:latin typeface="Malgun Gothic"/>
              </a:defRPr>
            </a:pPr>
            <a:r>
              <a:t>시나리오 영역에서 이동할 단계 선택</a:t>
            </a:r>
          </a:p>
          <a:p>
            <a:pPr marL="228600">
              <a:spcAft>
                <a:spcPts val="600"/>
              </a:spcAft>
              <a:defRPr sz="1500">
                <a:solidFill>
                  <a:srgbClr val="182235"/>
                </a:solidFill>
                <a:latin typeface="Malgun Gothic"/>
              </a:defRPr>
            </a:pPr>
            <a:r>
              <a:t>선택된 단계는 파란색으로 강조</a:t>
            </a:r>
          </a:p>
        </p:txBody>
      </p:sp>
      <p:pic>
        <p:nvPicPr>
          <p:cNvPr id="11" name="Picture 10" descr="table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15468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572000" cy="36576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200" b="1">
                <a:solidFill>
                  <a:srgbClr val="182235"/>
                </a:solidFill>
                <a:latin typeface="Malgun Gothic"/>
              </a:rPr>
              <a:t>5. 알림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45720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200" b="0">
                <a:solidFill>
                  <a:srgbClr val="647184"/>
                </a:solidFill>
                <a:latin typeface="Malgun Gothic"/>
              </a:rPr>
              <a:t>실제 태블릿에서 경고창이 뜬 화면입니다.</a:t>
            </a:r>
          </a:p>
        </p:txBody>
      </p:sp>
      <p:pic>
        <p:nvPicPr>
          <p:cNvPr id="4" name="Picture 3" descr="tablet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1143000"/>
            <a:ext cx="6949440" cy="4343400"/>
          </a:xfrm>
          <a:prstGeom prst="rect">
            <a:avLst/>
          </a:prstGeom>
        </p:spPr>
      </p:pic>
      <p:cxnSp>
        <p:nvCxnSpPr>
          <p:cNvPr id="6" name="Connector 5"/>
          <p:cNvCxnSpPr>
            <a:cxnSpLocks/>
          </p:cNvCxnSpPr>
          <p:nvPr/>
        </p:nvCxnSpPr>
        <p:spPr>
          <a:xfrm>
            <a:off x="1691014" y="2157984"/>
            <a:ext cx="2890130" cy="36576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572000" y="24688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6226" y="2860444"/>
            <a:ext cx="123444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 확인</a:t>
            </a:r>
          </a:p>
        </p:txBody>
      </p:sp>
      <p:cxnSp>
        <p:nvCxnSpPr>
          <p:cNvPr id="9" name="Connector 8"/>
          <p:cNvCxnSpPr>
            <a:cxnSpLocks/>
            <a:stCxn id="8" idx="1"/>
            <a:endCxn id="10" idx="2"/>
          </p:cNvCxnSpPr>
          <p:nvPr/>
        </p:nvCxnSpPr>
        <p:spPr>
          <a:xfrm flipH="1">
            <a:off x="7432568" y="3015892"/>
            <a:ext cx="3083658" cy="155448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432568" y="311647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>
            <a:cxnSpLocks/>
            <a:endCxn id="13" idx="4"/>
          </p:cNvCxnSpPr>
          <p:nvPr/>
        </p:nvCxnSpPr>
        <p:spPr>
          <a:xfrm flipV="1">
            <a:off x="4800600" y="4630371"/>
            <a:ext cx="1230891" cy="993189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976627" y="4520643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14B74BE-7933-4391-E086-7801D283DF16}"/>
              </a:ext>
            </a:extLst>
          </p:cNvPr>
          <p:cNvGrpSpPr/>
          <p:nvPr/>
        </p:nvGrpSpPr>
        <p:grpSpPr>
          <a:xfrm>
            <a:off x="4206240" y="6033412"/>
            <a:ext cx="3766576" cy="594360"/>
            <a:chOff x="6583680" y="5532120"/>
            <a:chExt cx="4663440" cy="594360"/>
          </a:xfrm>
        </p:grpSpPr>
        <p:sp>
          <p:nvSpPr>
            <p:cNvPr id="14" name="Rounded Rectangle 13"/>
            <p:cNvSpPr/>
            <p:nvPr/>
          </p:nvSpPr>
          <p:spPr>
            <a:xfrm>
              <a:off x="6583680" y="5532120"/>
              <a:ext cx="4663440" cy="59436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CE5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66560" y="5687568"/>
              <a:ext cx="4297680" cy="228600"/>
            </a:xfrm>
            <a:prstGeom prst="rect">
              <a:avLst/>
            </a:prstGeom>
            <a:noFill/>
          </p:spPr>
          <p:txBody>
            <a:bodyPr wrap="none" lIns="18288" tIns="9144" rIns="18288" bIns="9144">
              <a:spAutoFit/>
            </a:bodyPr>
            <a:lstStyle/>
            <a:p>
              <a:r>
                <a:rPr sz="1100" b="0" dirty="0" err="1">
                  <a:solidFill>
                    <a:srgbClr val="647184"/>
                  </a:solidFill>
                  <a:latin typeface="Malgun Gothic"/>
                </a:rPr>
                <a:t>여러</a:t>
              </a:r>
              <a:r>
                <a:rPr sz="1100" b="0" dirty="0">
                  <a:solidFill>
                    <a:srgbClr val="647184"/>
                  </a:solidFill>
                  <a:latin typeface="Malgun Gothic"/>
                </a:rPr>
                <a:t> </a:t>
              </a:r>
              <a:r>
                <a:rPr sz="1100" b="0" dirty="0" err="1">
                  <a:solidFill>
                    <a:srgbClr val="647184"/>
                  </a:solidFill>
                  <a:latin typeface="Malgun Gothic"/>
                </a:rPr>
                <a:t>알림이</a:t>
              </a:r>
              <a:r>
                <a:rPr sz="1100" b="0" dirty="0">
                  <a:solidFill>
                    <a:srgbClr val="647184"/>
                  </a:solidFill>
                  <a:latin typeface="Malgun Gothic"/>
                </a:rPr>
                <a:t> </a:t>
              </a:r>
              <a:r>
                <a:rPr sz="1100" b="0" dirty="0" err="1">
                  <a:solidFill>
                    <a:srgbClr val="647184"/>
                  </a:solidFill>
                  <a:latin typeface="Malgun Gothic"/>
                </a:rPr>
                <a:t>있으면</a:t>
              </a:r>
              <a:r>
                <a:rPr sz="1100" b="0" dirty="0">
                  <a:solidFill>
                    <a:srgbClr val="647184"/>
                  </a:solidFill>
                  <a:latin typeface="Malgun Gothic"/>
                </a:rPr>
                <a:t> </a:t>
              </a:r>
              <a:r>
                <a:rPr sz="1100" b="0" dirty="0" err="1">
                  <a:solidFill>
                    <a:srgbClr val="647184"/>
                  </a:solidFill>
                  <a:latin typeface="Malgun Gothic"/>
                </a:rPr>
                <a:t>모두</a:t>
              </a:r>
              <a:r>
                <a:rPr sz="1100" b="0" dirty="0">
                  <a:solidFill>
                    <a:srgbClr val="647184"/>
                  </a:solidFill>
                  <a:latin typeface="Malgun Gothic"/>
                </a:rPr>
                <a:t> </a:t>
              </a:r>
              <a:r>
                <a:rPr sz="1100" b="0" dirty="0" err="1">
                  <a:solidFill>
                    <a:srgbClr val="647184"/>
                  </a:solidFill>
                  <a:latin typeface="Malgun Gothic"/>
                </a:rPr>
                <a:t>확인으로</a:t>
              </a:r>
              <a:r>
                <a:rPr sz="1100" b="0" dirty="0">
                  <a:solidFill>
                    <a:srgbClr val="647184"/>
                  </a:solidFill>
                  <a:latin typeface="Malgun Gothic"/>
                </a:rPr>
                <a:t> 한 </a:t>
              </a:r>
              <a:r>
                <a:rPr sz="1100" b="0" dirty="0" err="1">
                  <a:solidFill>
                    <a:srgbClr val="647184"/>
                  </a:solidFill>
                  <a:latin typeface="Malgun Gothic"/>
                </a:rPr>
                <a:t>번에</a:t>
              </a:r>
              <a:r>
                <a:rPr sz="1100" b="0" dirty="0">
                  <a:solidFill>
                    <a:srgbClr val="647184"/>
                  </a:solidFill>
                  <a:latin typeface="Malgun Gothic"/>
                </a:rPr>
                <a:t> </a:t>
              </a:r>
              <a:r>
                <a:rPr sz="1100" b="0" dirty="0" err="1">
                  <a:solidFill>
                    <a:srgbClr val="647184"/>
                  </a:solidFill>
                  <a:latin typeface="Malgun Gothic"/>
                </a:rPr>
                <a:t>정리합니다</a:t>
              </a:r>
              <a:r>
                <a:rPr sz="1100" b="0" dirty="0">
                  <a:solidFill>
                    <a:srgbClr val="647184"/>
                  </a:solidFill>
                  <a:latin typeface="Malgun Gothic"/>
                </a:rPr>
                <a:t>.</a:t>
              </a:r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502920" y="1978799"/>
            <a:ext cx="123444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 알림 내용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7263" y="5577840"/>
            <a:ext cx="1234440" cy="310896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 모두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883593" cy="357021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2200" b="1" dirty="0">
                <a:solidFill>
                  <a:srgbClr val="182235"/>
                </a:solidFill>
                <a:latin typeface="Malgun Gothic"/>
              </a:rPr>
              <a:t>6. </a:t>
            </a:r>
            <a:r>
              <a:rPr sz="2200" b="1" dirty="0" err="1">
                <a:solidFill>
                  <a:srgbClr val="182235"/>
                </a:solidFill>
                <a:latin typeface="Malgun Gothic"/>
              </a:rPr>
              <a:t>알림</a:t>
            </a:r>
            <a:r>
              <a:rPr sz="2200" b="1" dirty="0">
                <a:solidFill>
                  <a:srgbClr val="182235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82235"/>
                </a:solidFill>
                <a:latin typeface="Malgun Gothic"/>
              </a:rPr>
              <a:t>이벤트</a:t>
            </a:r>
            <a:endParaRPr sz="2200" b="1" dirty="0">
              <a:solidFill>
                <a:srgbClr val="182235"/>
              </a:solidFill>
              <a:latin typeface="Malgun Gothic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914400"/>
            <a:ext cx="53949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2286000" cy="27432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800" b="1">
                <a:solidFill>
                  <a:srgbClr val="182235"/>
                </a:solidFill>
                <a:latin typeface="Malgun Gothic"/>
              </a:rPr>
              <a:t>알림 이벤트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73736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320040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200" b="1">
                <a:solidFill>
                  <a:srgbClr val="182235"/>
                </a:solidFill>
                <a:latin typeface="Malgun Gothic"/>
              </a:rPr>
              <a:t>드롭 프레임 높음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47672"/>
            <a:ext cx="347472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000" b="0">
                <a:solidFill>
                  <a:srgbClr val="647184"/>
                </a:solidFill>
                <a:latin typeface="Malgun Gothic"/>
              </a:rPr>
              <a:t>드롭 8.1%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801368"/>
            <a:ext cx="64008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900" b="0">
                <a:solidFill>
                  <a:srgbClr val="647184"/>
                </a:solidFill>
                <a:latin typeface="Malgun Gothic"/>
              </a:rPr>
              <a:t>확인됨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5146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320040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200" b="1">
                <a:solidFill>
                  <a:srgbClr val="182235"/>
                </a:solidFill>
                <a:latin typeface="Malgun Gothic"/>
              </a:rPr>
              <a:t>YouTube 오프라인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24912"/>
            <a:ext cx="347472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000" b="0">
                <a:solidFill>
                  <a:srgbClr val="647184"/>
                </a:solidFill>
                <a:latin typeface="Malgun Gothic"/>
              </a:rPr>
              <a:t>YouTube 라이브가 아닙니다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578608"/>
            <a:ext cx="64008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900" b="0">
                <a:solidFill>
                  <a:srgbClr val="647184"/>
                </a:solidFill>
                <a:latin typeface="Malgun Gothic"/>
              </a:rPr>
              <a:t>확인됨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291839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246120"/>
            <a:ext cx="320040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200" b="1">
                <a:solidFill>
                  <a:srgbClr val="182235"/>
                </a:solidFill>
                <a:latin typeface="Malgun Gothic"/>
              </a:rPr>
              <a:t>오디오 정상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02152"/>
            <a:ext cx="347472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000" b="0">
                <a:solidFill>
                  <a:srgbClr val="647184"/>
                </a:solidFill>
                <a:latin typeface="Malgun Gothic"/>
              </a:rPr>
              <a:t>오디오 입력 정상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355848"/>
            <a:ext cx="640080" cy="201168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900" b="0">
                <a:solidFill>
                  <a:srgbClr val="647184"/>
                </a:solidFill>
                <a:latin typeface="Malgun Gothic"/>
              </a:rPr>
              <a:t>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389120" cy="228600"/>
          </a:xfrm>
          <a:prstGeom prst="rect">
            <a:avLst/>
          </a:prstGeom>
          <a:noFill/>
        </p:spPr>
        <p:txBody>
          <a:bodyPr wrap="none" lIns="18288" tIns="9144" rIns="18288" bIns="9144">
            <a:spAutoFit/>
          </a:bodyPr>
          <a:lstStyle/>
          <a:p>
            <a:r>
              <a:rPr sz="1100" b="0">
                <a:solidFill>
                  <a:srgbClr val="647184"/>
                </a:solidFill>
                <a:latin typeface="Malgun Gothic"/>
              </a:rPr>
              <a:t>방송 중 놓친 알림과 처리 상태를 다시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216</Words>
  <Application>Microsoft Office PowerPoint</Application>
  <PresentationFormat>와이드스크린</PresentationFormat>
  <Paragraphs>54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박수현</cp:lastModifiedBy>
  <cp:revision>5</cp:revision>
  <dcterms:created xsi:type="dcterms:W3CDTF">2013-01-27T09:14:16Z</dcterms:created>
  <dcterms:modified xsi:type="dcterms:W3CDTF">2026-06-15T07:45:44Z</dcterms:modified>
  <cp:category/>
</cp:coreProperties>
</file>